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erif"/>
      <p:regular r:id="rId16"/>
      <p:bold r:id="rId17"/>
      <p:italic r:id="rId18"/>
      <p:boldItalic r:id="rId19"/>
    </p:embeddedFont>
    <p:embeddedFont>
      <p:font typeface="Roboto Serif Extra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erifExtraLight-regular.fntdata"/><Relationship Id="rId11" Type="http://schemas.openxmlformats.org/officeDocument/2006/relationships/slide" Target="slides/slide6.xml"/><Relationship Id="rId22" Type="http://schemas.openxmlformats.org/officeDocument/2006/relationships/font" Target="fonts/RobotoSerifExtraLight-italic.fntdata"/><Relationship Id="rId10" Type="http://schemas.openxmlformats.org/officeDocument/2006/relationships/slide" Target="slides/slide5.xml"/><Relationship Id="rId21" Type="http://schemas.openxmlformats.org/officeDocument/2006/relationships/font" Target="fonts/RobotoSerifExtraLigh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SerifExtra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erif-bold.fntdata"/><Relationship Id="rId16" Type="http://schemas.openxmlformats.org/officeDocument/2006/relationships/font" Target="fonts/RobotoSerif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erif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Serif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0affbd3d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0affbd3d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affbd3d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affbd3d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0affbd3d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0affbd3d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0affbd3d2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0affbd3d2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affbd3d2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affbd3d2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0affbd3d2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0affbd3d2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0affbd3d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0affbd3d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0c23460c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0c23460c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0c23460c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0c23460c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835700" y="450550"/>
            <a:ext cx="3833575" cy="380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 amt="30000"/>
          </a:blip>
          <a:srcRect b="4133" l="8242" r="10469" t="7729"/>
          <a:stretch/>
        </p:blipFill>
        <p:spPr>
          <a:xfrm>
            <a:off x="4730100" y="450550"/>
            <a:ext cx="3566074" cy="38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6100" y="1900200"/>
            <a:ext cx="82518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8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Сегментация опухоли по МРТ снимкам головного мозга</a:t>
            </a:r>
            <a:endParaRPr sz="348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1022649" y="131963"/>
            <a:ext cx="3129099" cy="314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>
            <a:off x="5289400" y="1814100"/>
            <a:ext cx="2840874" cy="29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46100" y="2267100"/>
            <a:ext cx="82518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8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Результаты</a:t>
            </a:r>
            <a:endParaRPr sz="348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 amt="37000"/>
          </a:blip>
          <a:stretch>
            <a:fillRect/>
          </a:stretch>
        </p:blipFill>
        <p:spPr>
          <a:xfrm>
            <a:off x="2943527" y="588475"/>
            <a:ext cx="3561751" cy="40752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446100" y="182975"/>
            <a:ext cx="82518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8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DeepLabV3Plus</a:t>
            </a:r>
            <a:endParaRPr sz="348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65900" y="896500"/>
            <a:ext cx="8532000" cy="30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Архитектура:</a:t>
            </a:r>
            <a:endParaRPr b="1"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DeepLabV3+ с энкодерами resnet34, efficientnet, mobilenet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Итоговые параметры:</a:t>
            </a:r>
            <a:endParaRPr b="1"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Ранняя остановка: 5 эпох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Оптимизатор: 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AdamW с lr = 3e-4, weight_decay = 1e-4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Функция потерь: dice + bce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Scheduler: уменьшает lr в 2 раза, если валидационный лосс не улучшается две эпохи подряд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Gradient Clipping: max_norm = 1.0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Аугментация: на обучении: горизонтальное отражение  с вероятностью 0.5, афинные преобразования (translate_percent=(0.03, 0.03), scale=(0.97, 1.03), rotate=(-5, 5), p=0.5)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2402600" y="262955"/>
            <a:ext cx="4338800" cy="43570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715725" y="262950"/>
            <a:ext cx="13965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8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Было</a:t>
            </a:r>
            <a:endParaRPr sz="348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25" y="872251"/>
            <a:ext cx="4338800" cy="281241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40575" y="3812550"/>
            <a:ext cx="3946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8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Лучший dice = 0,7342 у efficientnet</a:t>
            </a:r>
            <a:endParaRPr sz="348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5832303" y="262950"/>
            <a:ext cx="17799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3458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Стало</a:t>
            </a:r>
            <a:endParaRPr sz="3458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8850" y="872250"/>
            <a:ext cx="4146771" cy="28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4748838" y="3812550"/>
            <a:ext cx="3946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8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Лучший dice = 0,7798 у efficientnet</a:t>
            </a:r>
            <a:endParaRPr sz="348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2404325" y="90500"/>
            <a:ext cx="4126549" cy="48971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159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80"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FPN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656800"/>
            <a:ext cx="8520600" cy="40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Архитектура:</a:t>
            </a:r>
            <a:endParaRPr b="1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FPN + ResNet34, EfficientNet-B0, VGG16: 0,2647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Итоговые параметры:</a:t>
            </a:r>
            <a:endParaRPr b="1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Ранняя остановка: 5 эпох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Оптимизатор: 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Adam с lr = 5e-3 для resnet34 и efficientnet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                   lr = 1e-4 для vgg16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Функция потерь: dice + bce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Scheduler: 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●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для ResNet34 и EfficientNet-B0 ReduceLROnPlateau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●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для VGG16CosineAnnealingLR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Gradient Clipping: max_norm = 1.0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 amt="47000"/>
          </a:blip>
          <a:stretch>
            <a:fillRect/>
          </a:stretch>
        </p:blipFill>
        <p:spPr>
          <a:xfrm>
            <a:off x="2611500" y="415988"/>
            <a:ext cx="4161699" cy="43115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220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Data Augmentation</a:t>
            </a:r>
            <a:endParaRPr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842225" y="915400"/>
            <a:ext cx="3549300" cy="37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828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A.HorizontalFlip(p=0.5),</a:t>
            </a:r>
            <a:endParaRPr sz="1828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ru" sz="1828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A.VerticalFlip(p=0.3),</a:t>
            </a:r>
            <a:endParaRPr sz="1828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ru" sz="1828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A.RandomRotate90(p=0.5),</a:t>
            </a:r>
            <a:endParaRPr sz="1828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ru" sz="1828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A.Affine(</a:t>
            </a:r>
            <a:endParaRPr sz="1828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ru" sz="1828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translate_percent=(0.05, 0.05),</a:t>
            </a:r>
            <a:endParaRPr sz="1828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ru" sz="1828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scale=(0.95, 1.05),</a:t>
            </a:r>
            <a:endParaRPr sz="1828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ru" sz="1828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rotate=(-20, 20),</a:t>
            </a:r>
            <a:endParaRPr sz="1828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ru" sz="1828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p=0.5</a:t>
            </a:r>
            <a:endParaRPr sz="1828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ru" sz="1828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 ),</a:t>
            </a:r>
            <a:endParaRPr sz="285">
              <a:solidFill>
                <a:schemeClr val="dk1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5235725" y="915400"/>
            <a:ext cx="3000000" cy="3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A.ElasticTransform(alpha=50, sigma=50, p=0.3),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A.GridDistortion(num_steps=5, distort_limit=0.3, p=0.3),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A.RandomBrightnessContrast(p=0.3),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ToTensorV2()</a:t>
            </a:r>
            <a:endParaRPr sz="18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2402600" y="262955"/>
            <a:ext cx="4338800" cy="4357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1715725" y="262950"/>
            <a:ext cx="13965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8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Было</a:t>
            </a:r>
            <a:endParaRPr sz="348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40575" y="3835525"/>
            <a:ext cx="39468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180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ResNet34: 0,7107</a:t>
            </a:r>
            <a:endParaRPr sz="180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180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EfficientNet-B0: 0,7781</a:t>
            </a:r>
            <a:endParaRPr sz="180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180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VGG16: 0,2647</a:t>
            </a:r>
            <a:endParaRPr sz="180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5832303" y="262950"/>
            <a:ext cx="17799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3458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Стало</a:t>
            </a:r>
            <a:endParaRPr sz="3458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748850" y="3835525"/>
            <a:ext cx="39468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ResNet34: 0,8028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EfficientNet-B0: 0,8243</a:t>
            </a:r>
            <a:endParaRPr sz="180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VGG16:  0,8430</a:t>
            </a:r>
            <a:endParaRPr sz="180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838" y="781999"/>
            <a:ext cx="4072424" cy="296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775" y="805113"/>
            <a:ext cx="4072401" cy="2917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/>
          <p:cNvPicPr preferRelativeResize="0"/>
          <p:nvPr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2166325" y="0"/>
            <a:ext cx="4944000" cy="50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104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50">
                <a:latin typeface="Roboto Serif"/>
                <a:ea typeface="Roboto Serif"/>
                <a:cs typeface="Roboto Serif"/>
                <a:sym typeface="Roboto Serif"/>
              </a:rPr>
              <a:t>Unet</a:t>
            </a:r>
            <a:endParaRPr sz="345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999175"/>
            <a:ext cx="889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Архитектура:</a:t>
            </a:r>
            <a:endParaRPr b="1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Unet с энкодерами resnet34, efficientnet-b0(b3), vgg16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Итоговые параметры:</a:t>
            </a:r>
            <a:endParaRPr b="1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Оптимизатор Adam(lr=0.005) + Шедулер ReduceLROnPlateau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Функция потерь: DiceLoss + BCELoss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Эпох: 25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Аугментации: </a:t>
            </a:r>
            <a:endParaRPr b="1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ChannelDropout(p=0.3)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RandomBrightnessContrast(p=0.3)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rif ExtraLight"/>
              <a:buChar char="-"/>
            </a:pPr>
            <a:r>
              <a:rPr lang="ru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ColorJitter(p=0.3)</a:t>
            </a:r>
            <a:endParaRPr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2251550" y="223149"/>
            <a:ext cx="4640900" cy="469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000000"/>
                </a:solidFill>
                <a:highlight>
                  <a:srgbClr val="FFFFFF"/>
                </a:highlight>
              </a:rPr>
              <a:t>unet_resnet34: val_loss=0.3215 | IoU=0.5787 | Dice=0.7114</a:t>
            </a:r>
            <a:endParaRPr sz="10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000000"/>
                </a:solidFill>
                <a:highlight>
                  <a:srgbClr val="FFFFFF"/>
                </a:highlight>
              </a:rPr>
              <a:t>unet_efficientnet-b0: val_loss=0.1889 | IoU=0.7219 | Dice=0.8339</a:t>
            </a:r>
            <a:br>
              <a:rPr lang="ru" sz="1050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ru" sz="1050">
                <a:solidFill>
                  <a:srgbClr val="000000"/>
                </a:solidFill>
                <a:highlight>
                  <a:srgbClr val="FFFFFF"/>
                </a:highlight>
              </a:rPr>
              <a:t>unet_vgg16: val_loss=0.4537 | IoU=0.4452 | Dice=0.5837</a:t>
            </a:r>
            <a:endParaRPr sz="10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4255564" cy="294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6050" y="1017727"/>
            <a:ext cx="4096251" cy="294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4736050" y="3962275"/>
            <a:ext cx="40962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unet_resnet34:               Dice=0.7114</a:t>
            </a:r>
            <a:endParaRPr sz="165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unet_efficientnet-b0:   </a:t>
            </a:r>
            <a: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Dice=0.8339</a:t>
            </a:r>
            <a:b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</a:br>
            <a: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unet_vgg16:                    </a:t>
            </a:r>
            <a: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Dice=0.5837</a:t>
            </a:r>
            <a:endParaRPr sz="165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311738" y="3890350"/>
            <a:ext cx="4255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unet_resnet34:               Dice=0.4791</a:t>
            </a:r>
            <a:endParaRPr sz="165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unet_efficientnet-b0:   Dice=0.6853</a:t>
            </a:r>
            <a:endParaRPr sz="165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unet_efficientnet-b3:   Dice=0.7087</a:t>
            </a:r>
            <a:b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</a:br>
            <a:r>
              <a:rPr lang="ru" sz="1650">
                <a:solidFill>
                  <a:schemeClr val="dk1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unet_vgg16:                    Dice=0.3894</a:t>
            </a:r>
            <a:endParaRPr sz="1650">
              <a:solidFill>
                <a:schemeClr val="dk1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1741200" y="426725"/>
            <a:ext cx="13965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480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Было</a:t>
            </a:r>
            <a:endParaRPr sz="3480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5841878" y="426725"/>
            <a:ext cx="17799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3458">
                <a:solidFill>
                  <a:srgbClr val="FFFFFF"/>
                </a:solidFill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Стало</a:t>
            </a:r>
            <a:endParaRPr sz="3458">
              <a:solidFill>
                <a:srgbClr val="FFFFFF"/>
              </a:solidFill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120">
                <a:latin typeface="Roboto Serif ExtraLight"/>
                <a:ea typeface="Roboto Serif ExtraLight"/>
                <a:cs typeface="Roboto Serif ExtraLight"/>
                <a:sym typeface="Roboto Serif ExtraLight"/>
              </a:rPr>
              <a:t>Скорость инференса</a:t>
            </a:r>
            <a:endParaRPr sz="3120">
              <a:latin typeface="Roboto Serif ExtraLight"/>
              <a:ea typeface="Roboto Serif ExtraLight"/>
              <a:cs typeface="Roboto Serif ExtraLight"/>
              <a:sym typeface="Roboto Serif ExtraLight"/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072" y="1107063"/>
            <a:ext cx="4612975" cy="35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